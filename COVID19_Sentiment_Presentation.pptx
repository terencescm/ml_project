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nce Michel" userId="868bc8a6c2a36ad8" providerId="LiveId" clId="{7011D793-54EE-4345-A765-9440ED94EAC1}"/>
    <pc:docChg chg="undo custSel modSld">
      <pc:chgData name="Terence Michel" userId="868bc8a6c2a36ad8" providerId="LiveId" clId="{7011D793-54EE-4345-A765-9440ED94EAC1}" dt="2026-04-08T13:00:07.989" v="31" actId="1076"/>
      <pc:docMkLst>
        <pc:docMk/>
      </pc:docMkLst>
      <pc:sldChg chg="delSp mod">
        <pc:chgData name="Terence Michel" userId="868bc8a6c2a36ad8" providerId="LiveId" clId="{7011D793-54EE-4345-A765-9440ED94EAC1}" dt="2026-04-08T12:57:00.999" v="11" actId="478"/>
        <pc:sldMkLst>
          <pc:docMk/>
          <pc:sldMk cId="0" sldId="256"/>
        </pc:sldMkLst>
        <pc:spChg chg="del">
          <ac:chgData name="Terence Michel" userId="868bc8a6c2a36ad8" providerId="LiveId" clId="{7011D793-54EE-4345-A765-9440ED94EAC1}" dt="2026-04-08T12:56:55.789" v="8" actId="478"/>
          <ac:spMkLst>
            <pc:docMk/>
            <pc:sldMk cId="0" sldId="256"/>
            <ac:spMk id="33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6:59.188" v="10" actId="478"/>
          <ac:spMkLst>
            <pc:docMk/>
            <pc:sldMk cId="0" sldId="256"/>
            <ac:spMk id="34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6:56.846" v="9" actId="478"/>
          <ac:spMkLst>
            <pc:docMk/>
            <pc:sldMk cId="0" sldId="256"/>
            <ac:spMk id="35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7:00.999" v="11" actId="478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Terence Michel" userId="868bc8a6c2a36ad8" providerId="LiveId" clId="{7011D793-54EE-4345-A765-9440ED94EAC1}" dt="2026-04-08T12:56:46.071" v="7" actId="1076"/>
        <pc:sldMkLst>
          <pc:docMk/>
          <pc:sldMk cId="0" sldId="258"/>
        </pc:sldMkLst>
        <pc:spChg chg="add del">
          <ac:chgData name="Terence Michel" userId="868bc8a6c2a36ad8" providerId="LiveId" clId="{7011D793-54EE-4345-A765-9440ED94EAC1}" dt="2026-04-08T12:56:12.052" v="4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6:46.071" v="7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6:46.071" v="7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6:46.071" v="7" actId="1076"/>
          <ac:spMkLst>
            <pc:docMk/>
            <pc:sldMk cId="0" sldId="258"/>
            <ac:spMk id="23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6:03.477" v="1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6:05.773" v="2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6:16.675" v="5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6:21.122" v="6" actId="478"/>
          <ac:spMkLst>
            <pc:docMk/>
            <pc:sldMk cId="0" sldId="258"/>
            <ac:spMk id="27" creationId="{00000000-0000-0000-0000-000000000000}"/>
          </ac:spMkLst>
        </pc:spChg>
      </pc:sldChg>
      <pc:sldChg chg="delSp mod">
        <pc:chgData name="Terence Michel" userId="868bc8a6c2a36ad8" providerId="LiveId" clId="{7011D793-54EE-4345-A765-9440ED94EAC1}" dt="2026-04-08T12:55:36.891" v="0" actId="478"/>
        <pc:sldMkLst>
          <pc:docMk/>
          <pc:sldMk cId="0" sldId="259"/>
        </pc:sldMkLst>
        <pc:spChg chg="del">
          <ac:chgData name="Terence Michel" userId="868bc8a6c2a36ad8" providerId="LiveId" clId="{7011D793-54EE-4345-A765-9440ED94EAC1}" dt="2026-04-08T12:55:36.891" v="0" actId="478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Terence Michel" userId="868bc8a6c2a36ad8" providerId="LiveId" clId="{7011D793-54EE-4345-A765-9440ED94EAC1}" dt="2026-04-08T12:57:47.654" v="13" actId="14100"/>
        <pc:sldMkLst>
          <pc:docMk/>
          <pc:sldMk cId="0" sldId="269"/>
        </pc:sldMkLst>
        <pc:spChg chg="mod">
          <ac:chgData name="Terence Michel" userId="868bc8a6c2a36ad8" providerId="LiveId" clId="{7011D793-54EE-4345-A765-9440ED94EAC1}" dt="2026-04-08T12:57:45.767" v="12" actId="1410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7:47.654" v="13" actId="14100"/>
          <ac:spMkLst>
            <pc:docMk/>
            <pc:sldMk cId="0" sldId="269"/>
            <ac:spMk id="16" creationId="{00000000-0000-0000-0000-000000000000}"/>
          </ac:spMkLst>
        </pc:spChg>
      </pc:sldChg>
      <pc:sldChg chg="delSp modSp mod">
        <pc:chgData name="Terence Michel" userId="868bc8a6c2a36ad8" providerId="LiveId" clId="{7011D793-54EE-4345-A765-9440ED94EAC1}" dt="2026-04-08T13:00:07.989" v="31" actId="1076"/>
        <pc:sldMkLst>
          <pc:docMk/>
          <pc:sldMk cId="0" sldId="270"/>
        </pc:sldMkLst>
        <pc:spChg chg="del">
          <ac:chgData name="Terence Michel" userId="868bc8a6c2a36ad8" providerId="LiveId" clId="{7011D793-54EE-4345-A765-9440ED94EAC1}" dt="2026-04-08T12:58:22.212" v="18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8:26.405" v="21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8:24.101" v="19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8:25.553" v="20" actId="478"/>
          <ac:spMkLst>
            <pc:docMk/>
            <pc:sldMk cId="0" sldId="270"/>
            <ac:spMk id="7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8:54.952" v="22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8:54.952" v="22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8:54.952" v="22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8:54.952" v="22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9:54.936" v="30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9:54.936" v="30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9:54.936" v="30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2:59:54.936" v="30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20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21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22" creationId="{00000000-0000-0000-0000-000000000000}"/>
          </ac:spMkLst>
        </pc:spChg>
        <pc:spChg chg="mod">
          <ac:chgData name="Terence Michel" userId="868bc8a6c2a36ad8" providerId="LiveId" clId="{7011D793-54EE-4345-A765-9440ED94EAC1}" dt="2026-04-08T13:00:07.989" v="31" actId="1076"/>
          <ac:spMkLst>
            <pc:docMk/>
            <pc:sldMk cId="0" sldId="270"/>
            <ac:spMk id="23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7:59.668" v="14" actId="478"/>
          <ac:spMkLst>
            <pc:docMk/>
            <pc:sldMk cId="0" sldId="270"/>
            <ac:spMk id="24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8:03.699" v="17" actId="478"/>
          <ac:spMkLst>
            <pc:docMk/>
            <pc:sldMk cId="0" sldId="270"/>
            <ac:spMk id="25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8:01.300" v="15" actId="478"/>
          <ac:spMkLst>
            <pc:docMk/>
            <pc:sldMk cId="0" sldId="270"/>
            <ac:spMk id="26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8:02.549" v="16" actId="478"/>
          <ac:spMkLst>
            <pc:docMk/>
            <pc:sldMk cId="0" sldId="270"/>
            <ac:spMk id="27" creationId="{00000000-0000-0000-0000-000000000000}"/>
          </ac:spMkLst>
        </pc:spChg>
      </pc:sldChg>
      <pc:sldChg chg="delSp modSp mod">
        <pc:chgData name="Terence Michel" userId="868bc8a6c2a36ad8" providerId="LiveId" clId="{7011D793-54EE-4345-A765-9440ED94EAC1}" dt="2026-04-08T12:59:35.371" v="29" actId="20577"/>
        <pc:sldMkLst>
          <pc:docMk/>
          <pc:sldMk cId="0" sldId="271"/>
        </pc:sldMkLst>
        <pc:spChg chg="mod">
          <ac:chgData name="Terence Michel" userId="868bc8a6c2a36ad8" providerId="LiveId" clId="{7011D793-54EE-4345-A765-9440ED94EAC1}" dt="2026-04-08T12:59:35.371" v="29" actId="20577"/>
          <ac:spMkLst>
            <pc:docMk/>
            <pc:sldMk cId="0" sldId="271"/>
            <ac:spMk id="6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9:26.461" v="24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9:28.190" v="25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Terence Michel" userId="868bc8a6c2a36ad8" providerId="LiveId" clId="{7011D793-54EE-4345-A765-9440ED94EAC1}" dt="2026-04-08T12:59:29.628" v="26" actId="478"/>
          <ac:spMkLst>
            <pc:docMk/>
            <pc:sldMk cId="0" sldId="271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59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040880" y="36576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43800" y="36576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0" y="36576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49640" y="36576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0" y="132588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43800" y="132588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49640" y="132588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40880" y="228600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43800" y="228600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228600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228600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324612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43800" y="324612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324612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49640" y="324612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420624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43800" y="420624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46720" y="420624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49640" y="4206240"/>
            <a:ext cx="109728" cy="109728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040880" y="1280160"/>
            <a:ext cx="1645920" cy="1645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74320" y="822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 Tweet</a:t>
            </a:r>
            <a:endParaRPr lang="en-US" sz="4200" dirty="0"/>
          </a:p>
        </p:txBody>
      </p:sp>
      <p:sp>
        <p:nvSpPr>
          <p:cNvPr id="26" name="Text 23"/>
          <p:cNvSpPr/>
          <p:nvPr/>
        </p:nvSpPr>
        <p:spPr>
          <a:xfrm>
            <a:off x="274320" y="1600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Classification</a:t>
            </a:r>
            <a:endParaRPr lang="en-US" sz="4200" dirty="0"/>
          </a:p>
        </p:txBody>
      </p:sp>
      <p:sp>
        <p:nvSpPr>
          <p:cNvPr id="27" name="Text 24"/>
          <p:cNvSpPr/>
          <p:nvPr/>
        </p:nvSpPr>
        <p:spPr>
          <a:xfrm>
            <a:off x="274320" y="26060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Using TF-IDF and Linear Classifiers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74320" y="3200400"/>
            <a:ext cx="32004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74320" y="3429000"/>
            <a:ext cx="146304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3429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 NLP Dataset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874520" y="3429000"/>
            <a:ext cx="146304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874520" y="3429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  |  Capstone Three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06040" cy="14173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06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709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0299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challenge &amp; value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606040" cy="14173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280160"/>
            <a:ext cx="2606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0" y="12801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373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709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840480" y="20299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deduplicate tweets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06040" cy="14173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35040" y="1280160"/>
            <a:ext cx="2606040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035040" y="12801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7373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1709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675120" y="20299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distributions &amp; patterns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06040" cy="14173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65760" y="2971800"/>
            <a:ext cx="2606040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65760" y="2971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290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05840" y="3721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 engineering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0" y="2971800"/>
            <a:ext cx="2606040" cy="14173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00400" y="2971800"/>
            <a:ext cx="260604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3200400" y="2971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42900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4048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840480" y="3721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 3 classifiers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35040" y="2971800"/>
            <a:ext cx="2606040" cy="14173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035040" y="2971800"/>
            <a:ext cx="260604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035040" y="2971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2900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7512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675120" y="3721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limits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1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172200" y="0"/>
            <a:ext cx="54864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00" cy="13258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64008" cy="1325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5166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"Can machine learning models accurately classify the sentiment of COVID-19 tweets into Positive, Neutral, or Negative categories using only tweet text?"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6459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64592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mood in real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154680"/>
            <a:ext cx="16459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0" y="3154680"/>
            <a:ext cx="164592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749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misinformation-driven 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3154680"/>
            <a:ext cx="16459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0" y="3154680"/>
            <a:ext cx="164592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3749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communication strategies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194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3,798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Tweets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Data Acquisition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Corona NLP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389120" cy="530352"/>
          </a:xfrm>
          <a:prstGeom prst="rect">
            <a:avLst/>
          </a:prstGeom>
          <a:solidFill>
            <a:srgbClr val="F0F7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COVID-19 tweet collection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0200" y="23408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3,798 labeled tweets (test split)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389120" cy="530352"/>
          </a:xfrm>
          <a:prstGeom prst="rect">
            <a:avLst/>
          </a:prstGeom>
          <a:solidFill>
            <a:srgbClr val="F0F7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96265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Labels: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00200" y="296265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 (Extremely Positive → Extremely Negative)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5844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3584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classes: Positive, Neutral, Negative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78808"/>
            <a:ext cx="4389120" cy="530352"/>
          </a:xfrm>
          <a:prstGeom prst="rect">
            <a:avLst/>
          </a:prstGeom>
          <a:solidFill>
            <a:srgbClr val="F0F7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00200" y="4206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improves model reliability &amp; reduces label noise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Consolidation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691640"/>
            <a:ext cx="182880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6916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Positive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2194560"/>
            <a:ext cx="1828800" cy="40233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1945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2697480"/>
            <a:ext cx="182880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26974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0" y="3200400"/>
            <a:ext cx="1828800" cy="40233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32004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3703320"/>
            <a:ext cx="1828800" cy="40233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37033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Negative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03720" y="2331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B4A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589520" y="1691640"/>
            <a:ext cx="1188720" cy="100584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89520" y="16916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2761488"/>
            <a:ext cx="11887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89520" y="27614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3328416"/>
            <a:ext cx="1188720" cy="10058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89520" y="3328416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labels  →  3 labels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Data Cleaning &amp; Preprocessing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Consolidation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original labels → 3 classes (Positive, Neutral, Negative)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0515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Normalization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lowercased for uniform processing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Removal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 links stripped — carry no sentiment value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114800" cy="10515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42316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&amp; Hashtag Removal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8803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@mentions and #hashtags removed as Twitter-specific tokens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64008" cy="10515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 Filtering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Non-alphabetic characters removed; only letters and spaces retained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657600"/>
            <a:ext cx="4114800" cy="10515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64008" cy="10515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Normalization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1148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spaces collapsed to single spaces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2 tweets with missing text identified → handled with empty-string imputation to prevent data loss.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Class Distribution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029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97280"/>
            <a:ext cx="3200400" cy="374904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0" y="1234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0" y="1828800"/>
            <a:ext cx="347472" cy="347472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8105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1810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21671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class — reflects pandemic anxiety &amp; frustration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788920"/>
            <a:ext cx="347472" cy="347472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0" y="27706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2770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0" y="31272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balanced with Negative; hopeful messages &amp; gratitude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3749040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37307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0" y="3730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6480" y="40873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— informational/factual tweets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4572000"/>
            <a:ext cx="3017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66928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&amp; Positive are nearly balanced;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is the minority class → harder to classify.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Top 15 Most Frequent Words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6692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188720"/>
            <a:ext cx="2743200" cy="1078992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26480" y="1188720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3640" y="15910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"food", "store", "grocery", "supermarket" dominate — economic anxiety was a key driver.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2450592"/>
            <a:ext cx="2743200" cy="1078992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26480" y="2450592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250545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Focus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3640" y="2852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"covid" and "virus" anchor the discourse to the core topic.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3712464"/>
            <a:ext cx="2743200" cy="1078992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26480" y="3712464"/>
            <a:ext cx="6400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63640" y="37673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Signals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4114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"people", "thank", "home", "work" reveal social &amp; behavioral themes.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Tweet Length by Sentiment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48640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Takeaways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126480" y="1645920"/>
            <a:ext cx="2743200" cy="9601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0" y="1719072"/>
            <a:ext cx="274320" cy="27432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1691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~85 chars avg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2011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longer — anger and frustration often expressed with more words.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26480" y="2743200"/>
            <a:ext cx="2743200" cy="9601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17920" y="2816352"/>
            <a:ext cx="274320" cy="274320"/>
          </a:xfrm>
          <a:prstGeom prst="ellipse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2788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~80 chars avg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length to negative; emotional expression is verbose.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3840480"/>
            <a:ext cx="2743200" cy="9601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3913632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0" y="38862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~75 chars avg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4206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shorter — informational statements tend to be concise.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26480" y="4069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show similar length ranges — tweet length alone is a weak predictor of sentiment.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Feature Engineering — TF-IDF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  =  TF(t,d)  ×  log[ N / df(t) 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114800" cy="6400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Features: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148840"/>
            <a:ext cx="4114800" cy="6400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Range: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 (1,2)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6400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removed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4114800" cy="6400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3,038 tweets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14800" cy="6400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7490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 tweets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14800" cy="64008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37490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dimensions (sparse)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5994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Bigrams capture multi-word sentiment signals like "not good", "very worried", or "thank you" — unigrams alone would miss the full meaning.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Modeling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12848" y="1207008"/>
            <a:ext cx="68580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12848" y="120700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67.8%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2350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2377440" cy="0"/>
          </a:xfrm>
          <a:prstGeom prst="line">
            <a:avLst/>
          </a:prstGeom>
          <a:noFill/>
          <a:ln w="635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linear classifier — well-suited to high-dimensional sparse text data. Outputs class probabilities.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2560320" cy="320040"/>
          </a:xfrm>
          <a:prstGeom prst="rect">
            <a:avLst/>
          </a:prstGeom>
          <a:solidFill>
            <a:srgbClr val="1A2B4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C=10, solver=liblinear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1704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38928" y="1207008"/>
            <a:ext cx="685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8928" y="120700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1691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67.1%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3200400" y="2350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670048"/>
            <a:ext cx="2377440" cy="0"/>
          </a:xfrm>
          <a:prstGeom prst="line">
            <a:avLst/>
          </a:prstGeom>
          <a:noFill/>
          <a:ln w="635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2743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Margin-maximizing linear classifier. Highly effective for text classification with large feature spaces.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840480"/>
            <a:ext cx="2560320" cy="32004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C=1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11704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1207008"/>
            <a:ext cx="6858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65008" y="120700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1691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59.9%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126480" y="2350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2670048"/>
            <a:ext cx="2377440" cy="0"/>
          </a:xfrm>
          <a:prstGeom prst="line">
            <a:avLst/>
          </a:prstGeom>
          <a:noFill/>
          <a:ln w="6350">
            <a:solidFill>
              <a:srgbClr val="D0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2743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probabilistic model based on word frequency. Feature independence assumption breaks down in NLP.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2560320" cy="320040"/>
          </a:xfrm>
          <a:prstGeom prst="rect">
            <a:avLst/>
          </a:prstGeom>
          <a:solidFill>
            <a:srgbClr val="6474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alpha=1.0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tuned with 5-fold GridSearchCV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Model Accuracy Comparison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3035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301752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Logistic Reg.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67.8%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0.62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LinearSVC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67.1%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0.62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Naive Bayes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59.9%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0.44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3520440"/>
            <a:ext cx="3017520" cy="137160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852160" y="3520440"/>
            <a:ext cx="64008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89320" y="35935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Models Won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89320" y="39319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produces a high-dimensional sparse space ideal for linear classifiers. Naive Bayes' feature independence assumption breaks down in natural language, explaining the ~8 point accuracy gap.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F1-Score by Sentiment Class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9436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97280"/>
            <a:ext cx="2468880" cy="114300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55080" y="1097280"/>
            <a:ext cx="64008" cy="11430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92240" y="1143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0" y="1143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F1: 0.74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922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0.70  R: 0.78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92240" y="17190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— polarized language is easiest to detect.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55080" y="2423160"/>
            <a:ext cx="2468880" cy="114300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55080" y="2423160"/>
            <a:ext cx="64008" cy="1143000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92240" y="2468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24688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CB3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F1: 0.69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224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0.68  R: 0.71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92240" y="30449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— positive keywords are distinct.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355080" y="3749040"/>
            <a:ext cx="2468880" cy="114300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355080" y="3749040"/>
            <a:ext cx="64008" cy="11430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37947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406640" y="3794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F1: 0.43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9224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0.57  R: 0.35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92240" y="43708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class — neutral language overlaps with both poles.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Confusion Matrix — Logistic Regression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02920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11430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7840" y="1691640"/>
            <a:ext cx="3200400" cy="8229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23560" y="17190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92240" y="17556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Recall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of 327 correctly classified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2651760"/>
            <a:ext cx="3200400" cy="8229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23560" y="267919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CB3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92240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Recall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3017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of 309 correctly classified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611880"/>
            <a:ext cx="3200400" cy="82296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23560" y="363931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92240" y="36758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Recall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 of 124 correctly classified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4617720"/>
            <a:ext cx="3200400" cy="384048"/>
          </a:xfrm>
          <a:prstGeom prst="rect">
            <a:avLst/>
          </a:prstGeom>
          <a:solidFill>
            <a:srgbClr val="E05C5C">
              <a:alpha val="12000"/>
            </a:srgbClr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69280" y="4636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Most common error: Neutral predicted as Positive or Negative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Logistic Regression for Real-Time Monitoring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88720" y="167335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LR classifier (C=10, TF-IDF bigrams) is lightweight, fast, and achieves 67.8% accuracy — ideal for streaming inference on high-volume COVID-19 tweet feeds.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Neutral as a Separate Research Problem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290779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two-stage approach: first classify Positive vs. Not-Positive, then separate Negative from Neutral. Low-confidence predictions should be flagged as Neutral.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7673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Transformer-Based Models for Production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8720" y="414223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BERTweet (BERT pretrained on Twitter) is the highest-ROI next step. Contextual embeddings will significantly outperform bag-of-words TF-IDF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for Future Research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216152"/>
            <a:ext cx="4114800" cy="109728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16152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733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sentiment shifted over time as the pandemic evolved using tweet date metadata.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216152"/>
            <a:ext cx="4114800" cy="109728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216152"/>
            <a:ext cx="64008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Mapping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6733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location metadata to map sentiment by region, revealing geographic hotspots of distress.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523744"/>
            <a:ext cx="4114800" cy="109728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523744"/>
            <a:ext cx="64008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6334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9809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SMOTE oversampling or class_weight='balanced' to improve Neutral class recall.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23744"/>
            <a:ext cx="4114800" cy="109728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523744"/>
            <a:ext cx="64008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6334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9809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Logistic Regression and LinearSVC predictions via soft voting for marginal accuracy gains.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8092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 provides a strong, efficient baseline for COVID-19 tweet sentiment classification, achieving 67.8% accuracy on a 3-class problem and providing actionable signal for public health monitoring.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192024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3127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Reg.)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2423160"/>
            <a:ext cx="192024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24871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CB3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3127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Class)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192024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48716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31272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(Hardest Class)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immediately deployable for monitoring public sentiment. The clearest path to improvement is adopting transformer-based language models fine-tuned on Twitter-specific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  |  Capstone Three  |  COVID-19 Tweet Sentiment Classification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1133</Words>
  <Application>Microsoft Office PowerPoint</Application>
  <PresentationFormat>On-screen Show (16:9)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Tweet Sentiment Classification</dc:title>
  <dc:subject>PptxGenJS Presentation</dc:subject>
  <dc:creator>PptxGenJS</dc:creator>
  <cp:lastModifiedBy>Terence Michel</cp:lastModifiedBy>
  <cp:revision>1</cp:revision>
  <dcterms:created xsi:type="dcterms:W3CDTF">2026-04-07T23:38:04Z</dcterms:created>
  <dcterms:modified xsi:type="dcterms:W3CDTF">2026-04-08T13:00:16Z</dcterms:modified>
</cp:coreProperties>
</file>